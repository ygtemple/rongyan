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2" r:id="rId13"/>
    <p:sldId id="268" r:id="rId14"/>
    <p:sldId id="269" r:id="rId15"/>
    <p:sldId id="270" r:id="rId16"/>
    <p:sldId id="26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20" y="72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各位评委老师好，我是王佳琦，今天带来的作品是融研智笔·英语写作智能体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这是我们的指导教师郭万群教授，感谢他的悉心指导。（说完立刻翻页）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我们前期调研了本校68名同学的四六级成绩，发现阅读和写作平均分差高达56分，写作是最大短板。而目前还存在标准不统一、反馈慢、提升无方向三大痛点，这就是我们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创作</a:t>
            </a:r>
            <a:r>
              <a:rPr lang="en-US" sz="1400" b="0" i="0" u="none" strike="noStrike">
                <a:solidFill>
                  <a:srgbClr val="000000"/>
                </a:solidFill>
              </a:rPr>
              <a:t>这个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智能体</a:t>
            </a:r>
            <a:r>
              <a:rPr lang="en-US" sz="1400" b="0" i="0" u="none" strike="noStrike">
                <a:solidFill>
                  <a:srgbClr val="000000"/>
                </a:solidFill>
              </a:rPr>
              <a:t>的初衷。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目前我们的产品已经可以稳定运行，支持5大核心功能，最特别的是我们的双输入模式：只输入主题就能生成高分范文，输入主题加作文就能完成全维度批改。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我们通过HiAgent低代码平台搭建了完整的工作流，用户输入后，系统会自动匹配对应考试的评分标准，调用知识库进行分析，最后把结果分类输出到网页上，全程自动化。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这一页展示了我们“融研智笔”系统在实际测试中的核心数据表现。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左侧的数据直观对比了AI系统与传统人工批改的差异：首先，我们将单篇作文的反馈时间从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教师</a:t>
            </a:r>
            <a:r>
              <a:rPr lang="en-US" sz="1400" b="0" i="0" u="none" strike="noStrike">
                <a:solidFill>
                  <a:srgbClr val="000000"/>
                </a:solidFill>
              </a:rPr>
              <a:t>人工批改的2-3天，革命性地缩短到了1分钟以内，极大地提升了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学生自主</a:t>
            </a:r>
            <a:r>
              <a:rPr lang="en-US" sz="1400" b="0" i="0" u="none" strike="noStrike">
                <a:solidFill>
                  <a:srgbClr val="000000"/>
                </a:solidFill>
              </a:rPr>
              <a:t>备考效率；其次，在核心能力上，AI的语法错误识别率稳定在88%以上，远超人工批改的平均水平；最后，我们特别针对考试场景进行了优化，系统给出的润色建议与评分标准的适配度高达92%，能有效帮助考生提分。这些数据均基于7类主流英语考试、21篇不同难度的真实作文样本测试得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右侧展示了系统的分析逻辑。系统不仅仅给出分数，更提供详细的单条错误分析，从原句定位到错误类型分类，再到修改建议以及背后的评分逻辑，帮助考生理解错在哪里、为什么错，真正实现“以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评促</a:t>
            </a:r>
            <a:r>
              <a:rPr lang="en-US" sz="1400" b="0" i="0" u="none" strike="noStrike">
                <a:solidFill>
                  <a:srgbClr val="000000"/>
                </a:solidFill>
              </a:rPr>
              <a:t>学”的效果。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通过这些硬指标和软实力的结合，我们的系统完全能够满足考生的高效备考需求。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我们有四个核心创新点，区别于通用AI工具：全链路低代码开发、一套后端多端复用、多知识库联动和渐进式安全架构，保证了产品的专业性和迭代速度。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不仅能帮助学生提升写作能力，还为高校教学提供了辅助工具，同时也验证了低代码开发教育智能体的可行性。我们从教育、技术、社会三个维度出发，致力于解决高校教学痛点，探索技术落地，并促进教育公平，让更多人受益于优质的写作教育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目前我们还有两个小问题待解决，后续我们会继续深耕写作赛道，不断完善产品核心能力。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快速翻页，配合简单解说）首先，选择考试类型；输入作文主题和草稿；点击提交，系统会立刻给出详细的批改结果；同时提供润色后的全文；并生成一份个性化的7天学习计划；如果只输入主题，还可以直接获取一篇高分范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（快速翻页）这是一篇用户输入的考研英语作文，系统在1分钟内就完成了批改，并给出了这样逐条的错误解析，包括错误类型、修改建议和扣分原因，非常详细。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（快速翻页）我们产品的专业性，源于我们构建的8大专业写作知识库。大家可以看到，这包括了高级句式库、以及针对不同考试的评分标准库等。这些知识库是我们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的产品</a:t>
            </a:r>
            <a:r>
              <a:rPr lang="en-US" sz="1400" b="0" i="0" u="none" strike="noStrike">
                <a:solidFill>
                  <a:srgbClr val="000000"/>
                </a:solidFill>
              </a:rPr>
              <a:t>实现精准批改和专业润色的基础。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（快速翻页）为了确保产品的稳定性，我们进行了超过50次的严格测试，覆盖了所有7类考试的常见写作问题。从这张运行日志截图可以看出，系统运行非常稳定，完全具备上线条件。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（快速翻页）这里是一个完整的考研英语批改案例。大家可以看到，输入原始作文后，系统不仅给出了润色后的高分范文，还为用户量身定制了一份7天学习计划，帮助用户系统性地提升。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我的汇报到此结束，感谢各位老师，请批评指正。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svg"/><Relationship Id="rId5" Type="http://schemas.openxmlformats.org/officeDocument/2006/relationships/tags" Target="../tags/tag5.xml"/><Relationship Id="rId10" Type="http://schemas.openxmlformats.org/officeDocument/2006/relationships/image" Target="../media/image2.jpeg"/><Relationship Id="rId4" Type="http://schemas.openxmlformats.org/officeDocument/2006/relationships/tags" Target="../tags/tag4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2.jpeg"/><Relationship Id="rId17" Type="http://schemas.openxmlformats.org/officeDocument/2006/relationships/image" Target="../media/image11.png"/><Relationship Id="rId2" Type="http://schemas.openxmlformats.org/officeDocument/2006/relationships/tags" Target="../tags/tag9.xml"/><Relationship Id="rId16" Type="http://schemas.openxmlformats.org/officeDocument/2006/relationships/image" Target="../media/image10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12.xml"/><Relationship Id="rId15" Type="http://schemas.openxmlformats.org/officeDocument/2006/relationships/image" Target="../media/image9.svg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13.jpe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37.sv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36.svg"/><Relationship Id="rId2" Type="http://schemas.openxmlformats.org/officeDocument/2006/relationships/tags" Target="../tags/tag18.xml"/><Relationship Id="rId16" Type="http://schemas.openxmlformats.org/officeDocument/2006/relationships/image" Target="../media/image35.sv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image" Target="../media/image2.jpeg"/><Relationship Id="rId10" Type="http://schemas.openxmlformats.org/officeDocument/2006/relationships/tags" Target="../tags/tag26.xml"/><Relationship Id="rId19" Type="http://schemas.openxmlformats.org/officeDocument/2006/relationships/image" Target="../media/image38.sv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31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3.xml"/><Relationship Id="rId10" Type="http://schemas.openxmlformats.org/officeDocument/2006/relationships/image" Target="../media/image51.jpeg"/><Relationship Id="rId4" Type="http://schemas.openxmlformats.org/officeDocument/2006/relationships/tags" Target="../tags/tag32.xml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融研智笔</a:t>
            </a:r>
            <a:r>
              <a:rPr lang="en-US" sz="4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英语写作智能体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241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基于HiAgent的大学生英语写作提分工具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55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汇报人：王佳琦</a:t>
            </a:r>
            <a:r>
              <a:rPr lang="en-US" sz="1600" b="0" i="0" u="none" strike="noStrike" dirty="0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</a:t>
            </a:r>
            <a:r>
              <a:rPr lang="en-US" sz="1600" b="0" i="0" u="none" strike="noStrike" dirty="0" err="1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指导教师：郭万群</a:t>
            </a:r>
            <a:r>
              <a:rPr lang="en-US" sz="1600" b="0" i="0" u="none" strike="noStrike" dirty="0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教授</a:t>
            </a:r>
            <a:endParaRPr lang="en-US" sz="1100" dirty="0"/>
          </a:p>
          <a:p>
            <a:pPr indent="0" algn="ctr">
              <a:lnSpc>
                <a:spcPct val="117000"/>
              </a:lnSpc>
            </a:pPr>
            <a:r>
              <a:rPr lang="en-US" sz="1500" b="0" i="0" u="none" strike="noStrike" dirty="0" err="1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郑州升达经贸管理学院</a:t>
            </a:r>
            <a:r>
              <a:rPr lang="en-US" sz="1500" b="0" i="0" u="none" strike="noStrike" dirty="0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1500" b="0" i="0" u="none" strike="noStrike" dirty="0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智笔融研团队</a:t>
            </a:r>
            <a:r>
              <a:rPr lang="en-US" sz="1500" b="0" i="0" u="none" strike="noStrike" dirty="0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500" b="0" i="0" u="none" strike="noStrike" dirty="0" err="1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翻译</a:t>
            </a:r>
            <a:r>
              <a:rPr lang="en-US" sz="1500" b="0" i="0" u="none" strike="noStrike" dirty="0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500" b="0" i="0" u="none" strike="noStrike" dirty="0" err="1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计算机</a:t>
            </a:r>
            <a:r>
              <a:rPr lang="en-US" sz="1500" b="0" i="0" u="none" strike="noStrike" dirty="0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/>
          <p:nvPr>
            <p:custDataLst>
              <p:tags r:id="rId1"/>
            </p:custDataLst>
          </p:nvPr>
        </p:nvSpPr>
        <p:spPr>
          <a:xfrm>
            <a:off x="2839218" y="5022392"/>
            <a:ext cx="6435725" cy="1198245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79450" y="147701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郭万群 教授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330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9500" y="3746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850390" y="3556000"/>
            <a:ext cx="386461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高校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外语</a:t>
            </a: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专家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三级教授、硕士生导师，长期致力于高等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外语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教育与跨学科研究。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</a:t>
            </a:r>
            <a:r>
              <a:rPr lang="en-US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郑州升达经贸管理学院外国语言文学学科带头人。</a:t>
            </a:r>
            <a:endParaRPr lang="zh-CN" altLang="en-US" sz="1400" b="0" i="0" u="none" strike="noStrike">
              <a:solidFill>
                <a:srgbClr val="555555"/>
              </a:solidFill>
              <a:latin typeface="微软雅黑" panose="020B0503020204020204" charset="-122"/>
              <a:ea typeface="宋体" panose="0201060003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223000" y="330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3746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493000" y="3556000"/>
            <a:ext cx="368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AIGC技术领域专家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2025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年，获得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工业和信息化部认证 AI智能体运营工程师（高级），在人工智能与AIGC应用领域具备深厚的专业资质。</a:t>
            </a:r>
          </a:p>
        </p:txBody>
      </p:sp>
      <p:pic>
        <p:nvPicPr>
          <p:cNvPr id="13" name="图片 12" descr="AI智能体运营工程师（高级）证书_01"/>
          <p:cNvPicPr>
            <a:picLocks noChangeAspect="1"/>
          </p:cNvPicPr>
          <p:nvPr/>
        </p:nvPicPr>
        <p:blipFill>
          <a:blip r:embed="rId13"/>
          <a:srcRect l="14654" t="12806" r="14362" b="55058"/>
          <a:stretch>
            <a:fillRect/>
          </a:stretch>
        </p:blipFill>
        <p:spPr>
          <a:xfrm>
            <a:off x="5452745" y="683895"/>
            <a:ext cx="3248660" cy="2134870"/>
          </a:xfrm>
          <a:prstGeom prst="rect">
            <a:avLst/>
          </a:prstGeom>
        </p:spPr>
      </p:pic>
      <p:pic>
        <p:nvPicPr>
          <p:cNvPr id="14" name="图片 13" descr="AI智能体运营工程师（高级）证书_01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8858250" y="701040"/>
            <a:ext cx="3009900" cy="21177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66085" y="513778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en-US" altLang="zh-CN" sz="2000" dirty="0"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+mn-ea"/>
              </a:rPr>
              <a:t>“</a:t>
            </a:r>
            <a:r>
              <a:rPr lang="zh-CN" altLang="en-US" sz="2000" dirty="0"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+mn-ea"/>
              </a:rPr>
              <a:t>融研智笔</a:t>
            </a:r>
            <a:r>
              <a:rPr lang="en-US" altLang="zh-CN" sz="2000" dirty="0"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+mn-ea"/>
              </a:rPr>
              <a:t>”</a:t>
            </a:r>
            <a:r>
              <a:rPr lang="zh-CN" altLang="en-US" sz="2000" dirty="0"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+mn-ea"/>
              </a:rPr>
              <a:t>英语写作智能体作品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的创意来自郭万群教授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2025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年主持立项的河南省哲社课题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2000" u="sng" dirty="0">
                <a:latin typeface="方正粗宋简体" panose="02000000000000000000" charset="-122"/>
                <a:ea typeface="方正粗宋简体" panose="02000000000000000000" charset="-122"/>
                <a:sym typeface="+mn-ea"/>
              </a:rPr>
              <a:t>间性理论视域下生成式人工智能外语教育范式重构研究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创作灵感与核心痛点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真实本校学生成绩截图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20844" y="1577658"/>
            <a:ext cx="5842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8"/>
          <p:cNvSpPr/>
          <p:nvPr/>
        </p:nvSpPr>
        <p:spPr>
          <a:xfrm>
            <a:off x="5842000" y="215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📊 调研 68 名本校学生：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2667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四六级阅读平均分</a:t>
            </a:r>
            <a:r>
              <a:rPr lang="en-US" sz="1800" b="1" i="0" u="none" strike="noStrike" dirty="0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168分</a:t>
            </a:r>
            <a:r>
              <a:rPr lang="en-US" sz="1400" b="0" i="0" u="none" strike="noStrike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，写作平均分仅</a:t>
            </a:r>
            <a:r>
              <a:rPr lang="en-US" sz="1800" b="1" i="0" u="none" strike="noStrike" dirty="0">
                <a:solidFill>
                  <a:srgbClr val="D930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112分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❌ 分差高达</a:t>
            </a:r>
            <a:r>
              <a:rPr lang="en-US" sz="2200" b="1" i="0" u="none" strike="noStrike" dirty="0">
                <a:solidFill>
                  <a:srgbClr val="D930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56分！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842000" y="3683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大学生英语备考的三大核心痛点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"/>
            </p:custDataLst>
          </p:nvPr>
        </p:nvSpPr>
        <p:spPr>
          <a:xfrm>
            <a:off x="5842000" y="4318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69000" y="4445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6286500" y="44196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标准碎片化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7类考试评分逻辑不同，学习资源分散，难以统一</a:t>
            </a:r>
          </a:p>
        </p:txBody>
      </p:sp>
      <p:sp>
        <p:nvSpPr>
          <p:cNvPr id="14" name="AutoShape 14"/>
          <p:cNvSpPr/>
          <p:nvPr>
            <p:custDataLst>
              <p:tags r:id="rId4"/>
            </p:custDataLst>
          </p:nvPr>
        </p:nvSpPr>
        <p:spPr>
          <a:xfrm>
            <a:off x="7683500" y="4318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10500" y="4445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8128000" y="44196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反馈严重滞后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人工批改需等待2-3天，无法即时纠错，效率低</a:t>
            </a:r>
          </a:p>
        </p:txBody>
      </p:sp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9525000" y="4318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52000" y="4445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9969500" y="4419600"/>
            <a:ext cx="114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提升无方向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仅提供最终分数，缺乏针对性错误分析和提分方案</a:t>
            </a:r>
          </a:p>
        </p:txBody>
      </p:sp>
      <p:pic>
        <p:nvPicPr>
          <p:cNvPr id="2097157" name="内容占位符 3"/>
          <p:cNvPicPr>
            <a:picLocks noChangeAspect="1"/>
          </p:cNvPicPr>
          <p:nvPr/>
        </p:nvPicPr>
        <p:blipFill>
          <a:blip r:embed="rId16"/>
          <a:srcRect t="46517"/>
          <a:stretch>
            <a:fillRect/>
          </a:stretch>
        </p:blipFill>
        <p:spPr>
          <a:xfrm>
            <a:off x="87572" y="1435100"/>
            <a:ext cx="2875029" cy="2388870"/>
          </a:xfrm>
          <a:prstGeom prst="rect">
            <a:avLst/>
          </a:prstGeom>
        </p:spPr>
      </p:pic>
      <p:pic>
        <p:nvPicPr>
          <p:cNvPr id="2097158" name="图片 4"/>
          <p:cNvPicPr>
            <a:picLocks noChangeAspect="1"/>
          </p:cNvPicPr>
          <p:nvPr/>
        </p:nvPicPr>
        <p:blipFill>
          <a:blip r:embed="rId17"/>
          <a:srcRect t="44731" r="-13616" b="17934"/>
          <a:stretch>
            <a:fillRect/>
          </a:stretch>
        </p:blipFill>
        <p:spPr>
          <a:xfrm>
            <a:off x="3015633" y="1435101"/>
            <a:ext cx="2674486" cy="2388870"/>
          </a:xfrm>
          <a:prstGeom prst="rect">
            <a:avLst/>
          </a:prstGeom>
        </p:spPr>
      </p:pic>
      <p:pic>
        <p:nvPicPr>
          <p:cNvPr id="2097159" name="图片 5"/>
          <p:cNvPicPr>
            <a:picLocks noChangeAspect="1"/>
          </p:cNvPicPr>
          <p:nvPr/>
        </p:nvPicPr>
        <p:blipFill>
          <a:blip r:embed="rId18"/>
          <a:srcRect t="39000" r="41" b="33537"/>
          <a:stretch>
            <a:fillRect/>
          </a:stretch>
        </p:blipFill>
        <p:spPr>
          <a:xfrm>
            <a:off x="197018" y="3911283"/>
            <a:ext cx="2765583" cy="2510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89989" y="3823970"/>
            <a:ext cx="2477823" cy="2510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产品现状与核心功能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75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413000"/>
            <a:ext cx="4953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en-US" sz="16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原PPT截图：PC端三栏布局完整主界面</a:t>
            </a:r>
            <a:r>
              <a:rPr lang="en-US" sz="16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]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标注</a:t>
            </a:r>
            <a:r>
              <a:rPr lang="en-US" sz="14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：①</a:t>
            </a:r>
            <a:r>
              <a:rPr lang="en-US" sz="14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左侧学习数据</a:t>
            </a:r>
            <a:r>
              <a:rPr lang="en-US" sz="14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②</a:t>
            </a:r>
            <a:r>
              <a:rPr lang="en-US" sz="14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中间写作区</a:t>
            </a:r>
            <a:r>
              <a:rPr lang="en-US" sz="14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③</a:t>
            </a:r>
            <a:r>
              <a:rPr lang="en-US" sz="14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右侧句式库</a:t>
            </a:r>
            <a:endParaRPr lang="en-US" sz="1400" b="0" i="0" u="none" strike="noStrike" dirty="0">
              <a:solidFill>
                <a:srgbClr val="AAAA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EA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239000" y="1905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产品现状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V1.0版本已完成，所有核心功能稳定运行 · 支持PC/移动端双端访问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5大核心功能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4064000"/>
            <a:ext cx="24765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38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42164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多考试一键适配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覆盖 7 类主流英语考试题型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4064000"/>
            <a:ext cx="24765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438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588500" y="42164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多维度智能批改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语法 / 逻辑 / 结构全维度分析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5270500"/>
            <a:ext cx="1600200" cy="12065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5524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667500" y="54356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分级内容润色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基础 → 高级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阶梯式提升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026400" y="5270500"/>
            <a:ext cx="1600200" cy="12065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3400" y="5524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470900" y="54356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双输入模式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主题生成 /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作文+主题批改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829800" y="5270500"/>
            <a:ext cx="1600200" cy="12065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6800" y="55245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287000" y="54356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专属写作库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海量句式 / 范文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热门话题库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0" y="1733697"/>
            <a:ext cx="5921910" cy="4965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核心解决逻辑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EB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1930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用户输入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主题 / 作文内容提交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触发智能分析流程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2286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937000" y="1778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EB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5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1930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HiAgent 智能分析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匹配评分标准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精准调用专业知识库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286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1778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EB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8500" y="196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556500" y="1930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多维分类输出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批改 / 润色 / 计划 / 范文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结构化反馈结果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0" y="2286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1778000"/>
            <a:ext cx="1651000" cy="1397000"/>
          </a:xfrm>
          <a:prstGeom prst="roundRect">
            <a:avLst>
              <a:gd name="adj" fmla="val 7272"/>
            </a:avLst>
          </a:prstGeom>
          <a:solidFill>
            <a:srgbClr val="EB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90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223500" y="19304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前端展示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HTML网页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即时呈现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3683000"/>
            <a:ext cx="10668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3937000"/>
            <a:ext cx="2413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4191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778000" y="4191000"/>
            <a:ext cx="152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 · 低代码开发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HiAgent可视化编排逻辑，无需编写复杂后端代码，实现零门槛的工作流搭建与逻辑迭代。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3683000" y="3937000"/>
            <a:ext cx="2413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3500" y="4191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4445000" y="4191000"/>
            <a:ext cx="152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前端 · 原生技术栈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采用纯原生HTML+CSS+JS开发，轻量且高性能，一套代码即可实现多端自适应复用。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350000" y="3937000"/>
            <a:ext cx="2413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1910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4191000"/>
            <a:ext cx="152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 · 专业知识库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内置8大专业写作知识库与评分标准，确保系统分析逻辑贴合考试要求，反馈精准有效。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017000" y="4191000"/>
            <a:ext cx="2032000" cy="1651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080500" y="4699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[原PPT截图：</a:t>
            </a:r>
            <a:br>
              <a:rPr lang="en-US" sz="12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HiAgent工作流节点缩略图]</a:t>
            </a:r>
            <a:endParaRPr lang="en-US" sz="110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1100" y="4251976"/>
            <a:ext cx="2463800" cy="1529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实测效果与数据对比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核心指标对比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794000"/>
          <a:ext cx="4699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关键指标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传统人工批改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融研智笔 (AI)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单篇反馈时间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2 - 3 天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D9302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≤ 60 秒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语法识别准确率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约 75%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6A3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≥ 88%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考试规范适配度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因人而异，波动大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6A3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≥ 92%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558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测试数据基于：7大类主流英语考试 × 3篇不同难度水平的作文样本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单条错误智能分析示例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921000"/>
            <a:ext cx="4699000" cy="2286000"/>
          </a:xfrm>
          <a:prstGeom prst="roundRect">
            <a:avLst>
              <a:gd name="adj" fmla="val 4444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3429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3429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[原PPT截图展示区]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单条错误分析流：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原文定位 → 2. 错误类型标注 → 3. AI修改建议 → 4. 评分标准对应扣分点分析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5461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精准定位错误点，提供符合考试标准的修改方案，不仅纠错，更教方法。</a:t>
            </a:r>
            <a:endParaRPr lang="en-US" sz="11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1539948"/>
            <a:ext cx="5207000" cy="4794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核心创新点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98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30400" y="2095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全链路低代码开发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开发周期缩短70%，可快速响应考试大纲更新，敏捷适配各类教学场景，极大提升迭代效率。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987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91400" y="2095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一套后端多端复用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统一API服务支撑网页与桌面端，大幅降低系统维护成本，确保全平台数据一致性与功能实时同步。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711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304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多知识库深度联动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评分标准库、优秀范文库与专业句式库深度协同，让智能批改逻辑更严谨，反馈内容更贴合教学专业要求。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7117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914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渐进式安全架构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兼顾敏捷开发效率与严格上线安全标准，构建分级防护体系，全方位规避数据风险，为产品正式上线提供坚实保障。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200" y="2667000"/>
            <a:ext cx="863600" cy="863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81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教育价值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解决高校写作教学批改压力大、反馈不及时的痛点，实现个性化教学。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667000"/>
            <a:ext cx="863600" cy="863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381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技术价值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82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验证低代码平台在教育智能体开发中的可行性，为行业提供可复用的解决方案。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2667000"/>
            <a:ext cx="863600" cy="863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55000" y="381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社会价值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82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降低优质写作教育的使用门槛，打破资源壁垒，促进教育资源的公平获取。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现存问题与优化规划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905000" y="1905000"/>
            <a:ext cx="368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功能体验短板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暂不支持图片形式的作文识别功能，用户上传渠道受限，影响产品使用便捷性。</a:t>
            </a: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23000" y="1651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2032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366000" y="1905000"/>
            <a:ext cx="368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技术访问限制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存在跨域访问限制问题，部分网络环境下的用户无法正常访问并使用核心批改服务。</a:t>
            </a: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4191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905000" y="41275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短期攻坚 (1-3个月)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修复跨域问题，实现全网络环境稳定访问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上线OCR图片作文识别功能，拓宽输入方式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优化底层算法逻辑，将响应时间控制在30秒内</a:t>
            </a: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223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0" y="4191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366000" y="41275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中期拓展 (3-6个月)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开发并上线作文“批量批改”工具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扩充小众考试与地方卷的作文题型适配库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0" i="0" u="none" strike="noStrik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基于批改数据开发个性化写作提升计划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核心功能全流程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考试类型选择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适配四六级、考研、雅思、托福等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多种主流英语考试评分标准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193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作文草稿输入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支持自定义作文主题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提供便捷的草稿输入与编辑体验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193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智能批改结果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毫秒级响应，精准定位语法错误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并提供详细的错误标注与解析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47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润色版本全文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基于AI算法，在保留原文逻辑基础上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优化表达，提升文章整体水平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334000" y="447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个性化学习计划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520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根据批改结果，生成专属的7天提升计划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针对性解决薄弱项，科学备考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4445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017000" y="4470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范文生成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520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仅需输入主题关键词，即可一键生成</a:t>
            </a:r>
            <a:b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高分参考范文，拓展写作思路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2571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2700"/>
            <a:ext cx="106680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快速演示页2：完整输出链路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INPUT · </a:t>
            </a:r>
            <a:r>
              <a:rPr lang="en-US" sz="1600" b="1" i="0" u="none" strike="noStrike" dirty="0" err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用户输入源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en-US" sz="1400" b="0" i="0" u="none" strike="noStrike" dirty="0" err="1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原PPT截图：用户输入的原始作文（考研英语</a:t>
            </a:r>
            <a:r>
              <a:rPr lang="en-US" sz="1400" b="0" i="0" u="none" strike="noStrike" dirty="0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）]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064000"/>
            <a:ext cx="10668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4635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OUTPUT · 系统解析结果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[原PPT截图：系统生成的错误逐条解析（前5条）]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9" y="736600"/>
            <a:ext cx="110744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1" y="0"/>
            <a:ext cx="6250095" cy="39961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9" y="3646714"/>
            <a:ext cx="6180918" cy="3102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686" y="108858"/>
            <a:ext cx="5872723" cy="35983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864" y="3721902"/>
            <a:ext cx="5734367" cy="2756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知识库与技术支撑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1168400"/>
            <a:ext cx="4699000" cy="8781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dirty="0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</a:t>
            </a:r>
            <a:r>
              <a:rPr lang="en-US" sz="2200" b="1" i="0" u="none" strike="noStrike" dirty="0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大专业写作知识库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143000" y="3937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[原PPT截图：HiAgent知识库列表完整截图]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6536055" y="698500"/>
            <a:ext cx="5207000" cy="3048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6604000" y="88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高级句式与表达库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3"/>
            </p:custDataLst>
          </p:nvPr>
        </p:nvSpPr>
        <p:spPr>
          <a:xfrm>
            <a:off x="6604000" y="3882390"/>
            <a:ext cx="5139055" cy="2719705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4"/>
            </p:custDataLst>
          </p:nvPr>
        </p:nvSpPr>
        <p:spPr>
          <a:xfrm>
            <a:off x="6709410" y="403225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各考试评分标准库</a:t>
            </a:r>
            <a:endParaRPr lang="en-US" sz="1100"/>
          </a:p>
        </p:txBody>
      </p:sp>
      <p:pic>
        <p:nvPicPr>
          <p:cNvPr id="16" name="内容占位符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rcRect l="49579" t="8715" r="26141" b="47567"/>
          <a:stretch>
            <a:fillRect/>
          </a:stretch>
        </p:blipFill>
        <p:spPr>
          <a:xfrm>
            <a:off x="7154545" y="1386205"/>
            <a:ext cx="3597910" cy="2159000"/>
          </a:xfrm>
          <a:prstGeom prst="rect">
            <a:avLst/>
          </a:prstGeom>
        </p:spPr>
      </p:pic>
      <p:pic>
        <p:nvPicPr>
          <p:cNvPr id="17" name="内容占位符 3"/>
          <p:cNvPicPr>
            <a:picLocks noChangeAspect="1"/>
          </p:cNvPicPr>
          <p:nvPr/>
        </p:nvPicPr>
        <p:blipFill>
          <a:blip r:embed="rId9"/>
          <a:srcRect t="53336" r="76488" b="1800"/>
          <a:stretch>
            <a:fillRect/>
          </a:stretch>
        </p:blipFill>
        <p:spPr>
          <a:xfrm>
            <a:off x="6941820" y="4526280"/>
            <a:ext cx="4061460" cy="200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9" y="2222500"/>
            <a:ext cx="5207001" cy="3870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多轮测试验证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04850" y="1289685"/>
            <a:ext cx="10335327" cy="326644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921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[原PPT截图：HiAgent运行日志完整截图]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AAAA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（显示不同时间、不同考试类型的测试记录）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469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4953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50+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累计完成严格测试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469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4953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类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覆盖全品类考试写作场景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469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508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4953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系统运行稳定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具备全面上线条件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65" y="1397000"/>
            <a:ext cx="10335327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8975" y="2476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后端演示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完整</a:t>
            </a:r>
            <a:r>
              <a:rPr lang="zh-CN" alt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英语批改案例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88975" y="648335"/>
            <a:ext cx="3179445" cy="829945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8975" y="720090"/>
            <a:ext cx="3178810" cy="617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STEP 01 /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原始作文提交</a:t>
            </a:r>
            <a:endParaRPr lang="en-US" sz="1400" b="0" i="0" u="none" strike="noStrike" dirty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67450" y="686435"/>
            <a:ext cx="3895725" cy="796290"/>
          </a:xfrm>
          <a:prstGeom prst="roundRect">
            <a:avLst>
              <a:gd name="adj" fmla="val 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8975" y="571500"/>
            <a:ext cx="10160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061710" y="685800"/>
            <a:ext cx="4398645" cy="829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STEP 02 /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智能润色与学习规划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endParaRPr lang="en-US" sz="1400" b="0" i="0" u="none" strike="noStrike" dirty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49" y="1860105"/>
            <a:ext cx="5779135" cy="4111011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710" y="1860105"/>
            <a:ext cx="5894599" cy="41110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" y="304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感谢各位评委老师批评指正！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</a:t>
            </a:r>
            <a:r>
              <a:rPr 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200" b="0" i="0" u="none" strike="noStrike" dirty="0">
                <a:solidFill>
                  <a:srgbClr val="FFFFFF">
                    <a:alpha val="9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王佳琦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>
                    <a:alpha val="8509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技术支持：HiAgent平台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融研智笔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英语写作智能体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V1.0 | 2026.05.21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0,&quot;left&quot;:60,&quot;top&quot;:260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0,&quot;left&quot;:460,&quot;top&quot;:340,&quot;width&quot;:42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30,&quot;width&quot;:84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5,&quot;left&quot;:490,&quot;top&quot;:55,&quot;width&quot;:46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5,&quot;left&quot;:490,&quot;top&quot;:55,&quot;width&quot;:46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5,&quot;left&quot;:490,&quot;top&quot;:55,&quot;width&quot;:46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5,&quot;left&quot;:490,&quot;top&quot;:55,&quot;width&quot;:46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7.45,&quot;left&quot;:490,&quot;top&quot;:55,&quot;width&quot;:461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918</Words>
  <Application>Microsoft Office PowerPoint</Application>
  <PresentationFormat>宽屏</PresentationFormat>
  <Paragraphs>187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方正粗宋简体</vt:lpstr>
      <vt:lpstr>宋体</vt:lpstr>
      <vt:lpstr>微软雅黑</vt:lpstr>
      <vt:lpstr>Arial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temple</dc:creator>
  <cp:lastModifiedBy>1744059451@qq.com</cp:lastModifiedBy>
  <cp:revision>10</cp:revision>
  <dcterms:created xsi:type="dcterms:W3CDTF">2026-05-20T07:37:00Z</dcterms:created>
  <dcterms:modified xsi:type="dcterms:W3CDTF">2026-05-21T04:47:11Z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73D6F066EF614CA0BB8F7E92FA4F3033_13</vt:lpwstr>
  </property>
</Properties>
</file>